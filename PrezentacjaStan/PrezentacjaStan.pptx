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7"/>
    <p:restoredTop sz="86380"/>
  </p:normalViewPr>
  <p:slideViewPr>
    <p:cSldViewPr snapToGrid="0">
      <p:cViewPr varScale="1">
        <p:scale>
          <a:sx n="106" d="100"/>
          <a:sy n="106" d="100"/>
        </p:scale>
        <p:origin x="216" y="5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3:03:03.066"/>
    </inkml:context>
    <inkml:brush xml:id="br0">
      <inkml:brushProperty name="width" value="0.08819" units="cm"/>
      <inkml:brushProperty name="height" value="0.08819" units="cm"/>
      <inkml:brushProperty name="color" value="#E71224"/>
    </inkml:brush>
  </inkml:definitions>
  <inkml:trace contextRef="#ctx0" brushRef="#br0">0 0 24575,'31'0'0,"-5"0"0,-6 0 0,-7 1 0,0 3 0,0 3 0,6 6 0,9 5 0,3 3 0,4 0 0,-3-1 0,-2-2 0,-3-1 0,-2-2 0,-5 0 0,-1 0 0,0 0 0,4 1 0,4 4 0,3 2 0,0 3 0,-3-1 0,-4-3 0,-5-3 0,-2-4 0,-2 1 0,0-1 0,1-1 0,-1-1 0,0-1 0,-1 0 0,-1 1 0,3 2 0,5 3 0,4 3 0,4 1 0,0 1 0,-3-3 0,-3-3 0,-5-3 0,-4-4 0,-2-2 0,-5-5 0,-3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3:03:04.414"/>
    </inkml:context>
    <inkml:brush xml:id="br0">
      <inkml:brushProperty name="width" value="0.08819" units="cm"/>
      <inkml:brushProperty name="height" value="0.08819" units="cm"/>
      <inkml:brushProperty name="color" value="#E71224"/>
    </inkml:brush>
  </inkml:definitions>
  <inkml:trace contextRef="#ctx0" brushRef="#br0">627 0 24575,'-7'25'0,"-6"6"0,-9 9 0,-8 4 0,0-3 0,2-5 0,3-7 0,5-5 0,1-1 0,0 0 0,0 3 0,-5 4 0,-8 8 0,-8 8 0,-6 4 0,-5 6 0,3-3 0,7-5 0,7-9 0,10-11 0,6-7 0,7-7 0,5-3 0,2-3 0,1-2 0,0 0 0,0-1 0,-1 1 0,3-3 0,-1-1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A2A3B-8161-B04A-BA12-DA09D2AA7086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A0D50-7AFB-8443-AD12-2871CDE479D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050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A0D50-7AFB-8443-AD12-2871CDE479D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4931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A0D50-7AFB-8443-AD12-2871CDE479D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1231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A0D50-7AFB-8443-AD12-2871CDE479D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1749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A0D50-7AFB-8443-AD12-2871CDE479D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7850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FC8BD-037E-F2D6-2C3E-386C2B751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C417029-8FD3-8944-EEA4-ED206B088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A1C14E42-1158-8399-09F4-87DAC4BCD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5DEE98F-28AD-7950-47E4-4245A321A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A0D50-7AFB-8443-AD12-2871CDE479D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79634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47930-8005-5DE8-704C-830F0FDF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0F09045-E6C3-952B-FD9E-B8ECE81C6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134A92A-E6F4-AD00-5C8D-23B6DEA0D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D516890-3831-0000-B3B9-60D120925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A0D50-7AFB-8443-AD12-2871CDE479D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4709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354FE-D7CB-8F47-5D81-EC03F99D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9AC07AB-6539-22D9-E731-4E5266515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30A5D3A-DECF-0518-B53A-27F677233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5A40ED2-7436-5D51-8CEA-A55F87C08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A0D50-7AFB-8443-AD12-2871CDE479D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5288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AA02-FCBA-3076-3084-C95881C1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CC95960-FB00-B1B8-028D-8355F8CE8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65DAA01-5454-F76E-C640-D84481B1A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E8F70D8-3AFE-68FE-888A-AED0EE945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A0D50-7AFB-8443-AD12-2871CDE479D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2868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A82049-1DAB-FB87-9B22-DD8AD81B6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79C912D-BBCD-FA6B-32B5-6EE488259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9904ED-070C-3A5C-0DFE-14749E1D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9DAC81F-9F96-6D44-18E0-B9A06A9E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8A58FF4-4A74-7CB0-5916-40F392BEF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776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39206E-DD00-3748-76A9-DAF17D49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CE8EEEA-AC09-5A36-3B5C-41F289C1B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6C4D4E7-CCF5-790C-A34C-09FE0CCAF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9DC413B-771E-D4BD-AE60-E0F614DCF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AC02882-18ED-6A38-6652-2C6FFE00A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637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6E9BDD-AD24-A1FA-7362-E4DD909FB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7626FA0-F993-2A7B-E75D-953E679F5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B3441ED-B5B8-64F8-7B26-41DC4B591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42444F9-E67C-2B8C-64AD-12B11DE7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344EDFE-DC94-394F-3593-2F5AC009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675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C1B6F2-3154-0FAD-AB4C-3CA8493A0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0ADE725-1CAD-405B-7BA1-27BDC7856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56B8CAA-7FC0-59F9-9523-3122EE325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6D41CA3-92DC-AF54-9E42-FB7E27113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103FCC0-4770-CAEC-058C-B180BCBD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C78A7DF-FC61-5F9C-CD81-6545987BF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746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859DE8-C5B7-4840-97D7-852C0F49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4E0B1FB-4BBA-0ADF-0F71-2D80D4343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0E65D55-9F1C-91AB-E2F5-C129CBD3E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D4902C61-139B-F842-984D-24791310E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3374993-4526-641B-8F9F-D0E6586F8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F751EEF-7E41-5BF9-C6C2-8C22B0205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7011F495-0E22-14C1-E8B2-24EFE045D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53172AE-AB6E-2892-35AF-AF647E8F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947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9FC345-C760-9943-DF7B-D7A896A6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E66AF7E-4691-F425-03B4-59FA1A2A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78DD7F6-FFBE-98AA-536E-DD0CDE3D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7011FE4-F2F2-4208-E32B-82F1E599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06673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C1C48C9-37E8-5EC9-0986-DA9F11DDD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41EE76BF-9B74-C870-0C90-E090AF94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032E816-EBA6-821F-8F70-2E40CA42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315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B35FBE-5E63-34F8-CBF8-B1F535B72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85746A-442C-F464-7078-44D9CD3FA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431611E-AE9A-3D64-6033-0C34D4F06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249A60D-6FE7-A2DA-5762-7F23B252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8314FB8-A299-0A20-BD56-6570AB021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8774A6B-9681-8ADD-FC00-3DC081F3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0264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78016B-11C5-424A-A4C7-91401E241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A4D282DC-D9B2-17DB-4388-F981CA310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8801128-9EA2-37C7-902E-8002FAE97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AEB5435-0C46-9BE4-56A2-95AACC7B0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D360AA6-6DDE-2EA8-853D-519C582EF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6F0C7BB-B310-DF29-FD04-971C8F41B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0667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7E4EB9-A9D3-6DEC-9C79-5CB61CF12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BCCAF9F-3E9E-1A76-45F5-9D041E9A2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4CBF649-EE4B-B0E1-AEC2-02125094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99BF4D5-74EA-8230-6E59-D787DD224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58ACB75-3CA7-CF94-58BF-DF28A3A1A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769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BC34B1E-92C1-BC86-0204-77E2C9138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10A1C0E-3334-5692-0DF5-91C49C2FE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6E88D9C-1EEB-8345-6B0F-EDFA4F9E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6D4F555-980C-44CB-4804-8D99FEA0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1314CE7-02C7-AAB0-18EF-9196E397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4520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4A7FB9F-E5B0-BA0D-8382-7CA05C32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841FE0A-7F4D-C29E-7B90-FFA26F97B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95EC6E7-5460-0879-5B0F-460D7E0D0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995DFC-D8E1-9843-B0BA-2CF1B7B77A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382E311-CECC-683A-39D9-9AF4F25C9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35BE60D-6391-323B-84D6-23CC02E90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4ECB50-852B-0D4E-9AA7-76DE74D134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5802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CC81228-CEA3-402B-B8E5-688F5BFA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BC0916B8-FF7A-4ECB-9FD7-C7668658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011959" flipH="1">
            <a:off x="548353" y="314719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D848AE0-15E2-1C8F-9E02-0B6707690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815" y="2322864"/>
            <a:ext cx="5491090" cy="2387600"/>
          </a:xfrm>
        </p:spPr>
        <p:txBody>
          <a:bodyPr anchor="b">
            <a:normAutofit/>
          </a:bodyPr>
          <a:lstStyle/>
          <a:p>
            <a:pPr algn="l"/>
            <a:r>
              <a:rPr lang="pl-PL" dirty="0"/>
              <a:t>Wzorzec Stan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3C8A96-C051-F35B-080F-C1817B0EA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148" y="4802538"/>
            <a:ext cx="5491090" cy="1411993"/>
          </a:xfrm>
        </p:spPr>
        <p:txBody>
          <a:bodyPr anchor="t">
            <a:normAutofit/>
          </a:bodyPr>
          <a:lstStyle/>
          <a:p>
            <a:pPr algn="l"/>
            <a:r>
              <a:rPr lang="pl-PL" dirty="0"/>
              <a:t>Autor: </a:t>
            </a:r>
            <a:r>
              <a:rPr lang="pl-PL" dirty="0" err="1"/>
              <a:t>Andrii</a:t>
            </a:r>
            <a:r>
              <a:rPr lang="pl-PL" dirty="0"/>
              <a:t> Khvesyk, Informatyka III rok</a:t>
            </a:r>
          </a:p>
          <a:p>
            <a:pPr algn="l"/>
            <a:r>
              <a:rPr lang="pl-PL" dirty="0"/>
              <a:t>Przedmiot: Wzorce projektowe, gr. 2</a:t>
            </a:r>
          </a:p>
        </p:txBody>
      </p:sp>
      <p:pic>
        <p:nvPicPr>
          <p:cNvPr id="7" name="Obraz 6" descr="Obraz zawierający logo, Grafika, symbol, Czcionka&#10;&#10;Zawartość wygenerowana przez AI może być niepoprawna.">
            <a:extLst>
              <a:ext uri="{FF2B5EF4-FFF2-40B4-BE49-F238E27FC236}">
                <a16:creationId xmlns:a16="http://schemas.microsoft.com/office/drawing/2014/main" id="{5B3B8A94-A08B-AFD2-54F3-CB24C0969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5" b="-5"/>
          <a:stretch>
            <a:fillRect/>
          </a:stretch>
        </p:blipFill>
        <p:spPr>
          <a:xfrm>
            <a:off x="6417733" y="654567"/>
            <a:ext cx="5169282" cy="5169282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DC011D4-C95F-4B2E-9A3C-A46DCDE9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8584" y="447363"/>
            <a:ext cx="734141" cy="734141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68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60B3617-541B-702D-86F3-4B0239B0C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069EB1-9F61-E9C2-E0DA-B47DEAF13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/>
              <a:t>Stan</a:t>
            </a:r>
            <a:r>
              <a:rPr lang="pl-PL" dirty="0"/>
              <a:t> to behawioralny wzorzec projektowy pozwalający obiektowi zmienić swoje zachowanie gdy zmieni się jego stan wewnętrzny. Wygląda to tak, jakby obiekt zmienił swoją klasę.</a:t>
            </a:r>
          </a:p>
          <a:p>
            <a:pPr marL="0" indent="0">
              <a:buNone/>
            </a:pPr>
            <a:r>
              <a:rPr lang="pl-PL" dirty="0"/>
              <a:t>Czyli: ten sam obiekt, te same metody, różne reakcje</a:t>
            </a:r>
          </a:p>
        </p:txBody>
      </p:sp>
    </p:spTree>
    <p:extLst>
      <p:ext uri="{BB962C8B-B14F-4D97-AF65-F5344CB8AC3E}">
        <p14:creationId xmlns:p14="http://schemas.microsoft.com/office/powerpoint/2010/main" val="3798310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B818204-CA0A-C644-B291-27AADF93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Jak wzorzec stan powiązany z automatem skończonym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Symbol zastępczy zawartości 6" descr="Obraz zawierający szkic, rysowanie, krąg, Grafika liniowa&#10;&#10;Zawartość wygenerowana przez AI może być niepoprawna.">
            <a:extLst>
              <a:ext uri="{FF2B5EF4-FFF2-40B4-BE49-F238E27FC236}">
                <a16:creationId xmlns:a16="http://schemas.microsoft.com/office/drawing/2014/main" id="{08C5FA70-CAF0-DB63-06FD-044CD87A7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0153" y="509788"/>
            <a:ext cx="2980990" cy="2206091"/>
          </a:xfr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632A5ED4-8E0C-AD17-1F2B-D6CC1DC8D654}"/>
              </a:ext>
            </a:extLst>
          </p:cNvPr>
          <p:cNvSpPr txBox="1"/>
          <p:nvPr/>
        </p:nvSpPr>
        <p:spPr>
          <a:xfrm>
            <a:off x="6228883" y="3107985"/>
            <a:ext cx="5053069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Sednem tej koncepcji jest to, że w dowolnym momencie istnieje </a:t>
            </a:r>
            <a:r>
              <a:rPr lang="pl-PL" i="1" dirty="0"/>
              <a:t>skończona</a:t>
            </a:r>
            <a:r>
              <a:rPr lang="pl-PL" dirty="0"/>
              <a:t> liczba </a:t>
            </a:r>
            <a:r>
              <a:rPr lang="pl-PL" i="1" dirty="0"/>
              <a:t>stanów</a:t>
            </a:r>
            <a:r>
              <a:rPr lang="pl-PL" dirty="0"/>
              <a:t> w których program może się znajdować. W każdym z nich program zachowuje się różnie i może zostać przełączony z jednego stanu w drugi natychmiastowo. Możliwe stany, w jakich obiekt może się znaleźć, zależą od bieżącego stanu. </a:t>
            </a:r>
          </a:p>
        </p:txBody>
      </p:sp>
    </p:spTree>
    <p:extLst>
      <p:ext uri="{BB962C8B-B14F-4D97-AF65-F5344CB8AC3E}">
        <p14:creationId xmlns:p14="http://schemas.microsoft.com/office/powerpoint/2010/main" val="339555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2AE06C-C9A0-C58D-93EF-CA88E75C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Rozwiązanie naiwne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FE9C343-160D-A272-B626-59106C0B0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7336"/>
            <a:ext cx="10515600" cy="1754857"/>
          </a:xfrm>
        </p:spPr>
        <p:txBody>
          <a:bodyPr/>
          <a:lstStyle/>
          <a:p>
            <a:pPr marL="0" indent="0">
              <a:buNone/>
            </a:pPr>
            <a:r>
              <a:rPr lang="pl-PL" sz="3200" dirty="0"/>
              <a:t>Najczęstsze podejścia:</a:t>
            </a:r>
          </a:p>
          <a:p>
            <a:r>
              <a:rPr lang="pl-PL" sz="2400" dirty="0" err="1"/>
              <a:t>Enum</a:t>
            </a:r>
            <a:r>
              <a:rPr lang="pl-PL" sz="2400" dirty="0"/>
              <a:t> ze stanami</a:t>
            </a:r>
          </a:p>
          <a:p>
            <a:pPr>
              <a:lnSpc>
                <a:spcPct val="150000"/>
              </a:lnSpc>
            </a:pPr>
            <a:r>
              <a:rPr lang="pl-PL" sz="2400" dirty="0" err="1"/>
              <a:t>If</a:t>
            </a:r>
            <a:r>
              <a:rPr lang="pl-PL" sz="2400" dirty="0"/>
              <a:t> / </a:t>
            </a:r>
            <a:r>
              <a:rPr lang="pl-PL" sz="2400" dirty="0" err="1"/>
              <a:t>switch</a:t>
            </a:r>
            <a:r>
              <a:rPr lang="pl-PL" sz="2400" dirty="0"/>
              <a:t> w każdej metodzie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AFF4D9B-36AC-9D10-8448-97C299DB9754}"/>
              </a:ext>
            </a:extLst>
          </p:cNvPr>
          <p:cNvSpPr txBox="1"/>
          <p:nvPr/>
        </p:nvSpPr>
        <p:spPr>
          <a:xfrm>
            <a:off x="838200" y="3878841"/>
            <a:ext cx="4644737" cy="3160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3200" dirty="0"/>
              <a:t>Wady: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/>
              <a:t>Rozrastający się kod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/>
              <a:t>Duplikacja logiki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/>
              <a:t>Trudne w utrzymaniu</a:t>
            </a:r>
          </a:p>
          <a:p>
            <a:pPr>
              <a:lnSpc>
                <a:spcPct val="150000"/>
              </a:lnSpc>
            </a:pPr>
            <a:endParaRPr lang="pl-PL" sz="3200" dirty="0"/>
          </a:p>
        </p:txBody>
      </p:sp>
      <p:pic>
        <p:nvPicPr>
          <p:cNvPr id="7" name="Obraz 6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3B74A1EC-1221-3664-1D15-4B70560C3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467" y="2610057"/>
            <a:ext cx="6425119" cy="4034018"/>
          </a:xfrm>
          <a:prstGeom prst="rect">
            <a:avLst/>
          </a:prstGeom>
        </p:spPr>
      </p:pic>
      <p:pic>
        <p:nvPicPr>
          <p:cNvPr id="9" name="Obraz 8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E508878A-AA58-8E12-8DFA-1838AF749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747" y="1007462"/>
            <a:ext cx="4285839" cy="140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6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AC1DC-E5E0-6D17-80A7-DDCEFFB4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B1EE21-D89C-8398-07CD-F45396B66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B9221C-7AFC-8F6C-2DE2-FC36E3E3F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A46274B-374D-AEA8-C0CD-61C2760F0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Idea wzorca </a:t>
            </a:r>
            <a:r>
              <a:rPr lang="pl-PL" dirty="0" err="1">
                <a:solidFill>
                  <a:srgbClr val="FFFFFF"/>
                </a:solidFill>
              </a:rPr>
              <a:t>State</a:t>
            </a:r>
            <a:endParaRPr lang="pl-PL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AF18DC5C-8450-B4AB-90B3-79D62F5D5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C32999-37FA-5A1F-8C01-7C971FD74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179AC4F-556D-CCC4-A691-0BA87A307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961002"/>
            <a:ext cx="5536397" cy="3500312"/>
          </a:xfrm>
        </p:spPr>
        <p:txBody>
          <a:bodyPr>
            <a:normAutofit/>
          </a:bodyPr>
          <a:lstStyle/>
          <a:p>
            <a:r>
              <a:rPr lang="pl-PL" dirty="0"/>
              <a:t>Stan = osobny obiekt</a:t>
            </a:r>
          </a:p>
          <a:p>
            <a:r>
              <a:rPr lang="pl-PL" dirty="0"/>
              <a:t>Zachowanie delegowane do stanu</a:t>
            </a:r>
          </a:p>
          <a:p>
            <a:r>
              <a:rPr lang="pl-PL" dirty="0"/>
              <a:t>Brak </a:t>
            </a:r>
            <a:r>
              <a:rPr lang="pl-PL" dirty="0" err="1"/>
              <a:t>switchy</a:t>
            </a: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Schemat:</a:t>
            </a:r>
          </a:p>
          <a:p>
            <a:pPr marL="0" indent="0">
              <a:buNone/>
            </a:pPr>
            <a:r>
              <a:rPr lang="pl-PL" dirty="0" err="1"/>
              <a:t>Context</a:t>
            </a:r>
            <a:r>
              <a:rPr lang="pl-PL" dirty="0"/>
              <a:t> -&gt; </a:t>
            </a:r>
            <a:r>
              <a:rPr lang="pl-PL" dirty="0" err="1"/>
              <a:t>State</a:t>
            </a:r>
            <a:r>
              <a:rPr lang="pl-PL" dirty="0"/>
              <a:t> -&gt; </a:t>
            </a:r>
            <a:r>
              <a:rPr lang="pl-PL" dirty="0" err="1"/>
              <a:t>ConcreteState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47254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 descr="Obraz zawierający tekst, zrzut ekranu, diagram, Czcionka&#10;&#10;Zawartość wygenerowana przez AI może być niepoprawna.">
            <a:extLst>
              <a:ext uri="{FF2B5EF4-FFF2-40B4-BE49-F238E27FC236}">
                <a16:creationId xmlns:a16="http://schemas.microsoft.com/office/drawing/2014/main" id="{E9CA2E02-FB10-7C6E-37B2-E6565FCDD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0078" y="969484"/>
            <a:ext cx="7310718" cy="4929377"/>
          </a:xfr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7D34EDBA-0441-3E87-28F2-B7BCD494A7A6}"/>
              </a:ext>
            </a:extLst>
          </p:cNvPr>
          <p:cNvSpPr txBox="1"/>
          <p:nvPr/>
        </p:nvSpPr>
        <p:spPr>
          <a:xfrm>
            <a:off x="284711" y="451690"/>
            <a:ext cx="3295771" cy="228165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200" dirty="0"/>
              <a:t>Kontekst przechowuje odniesienie do jednego z konkretnych obiektów-stanów i deleguje mu zadania specyficzne dla danego stanu. Kontekst porozumiewa się z obiektem stanu za pośrednictwem interfejsu stanu. Kontekst eksponuje metodę </a:t>
            </a:r>
            <a:r>
              <a:rPr lang="pl-PL" sz="1200" dirty="0" err="1"/>
              <a:t>setter</a:t>
            </a:r>
            <a:r>
              <a:rPr lang="pl-PL" sz="1200" dirty="0"/>
              <a:t>, przez którą przekazuje się obiekt nowego stanu dla kontekstu.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E9A7C746-1BF7-318B-B3F9-27443FA37DD0}"/>
              </a:ext>
            </a:extLst>
          </p:cNvPr>
          <p:cNvCxnSpPr>
            <a:cxnSpLocks/>
          </p:cNvCxnSpPr>
          <p:nvPr/>
        </p:nvCxnSpPr>
        <p:spPr>
          <a:xfrm>
            <a:off x="3580482" y="561860"/>
            <a:ext cx="874005" cy="552956"/>
          </a:xfrm>
          <a:prstGeom prst="straightConnector1">
            <a:avLst/>
          </a:prstGeom>
          <a:ln w="317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45CDFB0-3546-5578-CF81-5EC48543D8FD}"/>
              </a:ext>
            </a:extLst>
          </p:cNvPr>
          <p:cNvSpPr txBox="1"/>
          <p:nvPr/>
        </p:nvSpPr>
        <p:spPr>
          <a:xfrm>
            <a:off x="9232134" y="229516"/>
            <a:ext cx="2838680" cy="200465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200" dirty="0"/>
              <a:t>Interfejs </a:t>
            </a:r>
            <a:r>
              <a:rPr lang="pl-PL" sz="1200" b="1" dirty="0"/>
              <a:t>Stanu</a:t>
            </a:r>
            <a:r>
              <a:rPr lang="pl-PL" sz="1200" dirty="0"/>
              <a:t> deklaruje metody specyficzne dla stanu. Metody te powinny być sensowne dla konkretnych stanów, ponieważ nie chcemy, aby któreś ze stanów posiadały bezużyteczne metody które nie zostaną nigdy wywołane.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96A027E3-3B1A-0EFA-F3A3-B56E74B56A4F}"/>
              </a:ext>
            </a:extLst>
          </p:cNvPr>
          <p:cNvCxnSpPr>
            <a:cxnSpLocks/>
          </p:cNvCxnSpPr>
          <p:nvPr/>
        </p:nvCxnSpPr>
        <p:spPr>
          <a:xfrm flipH="1">
            <a:off x="8354860" y="410907"/>
            <a:ext cx="877274" cy="703909"/>
          </a:xfrm>
          <a:prstGeom prst="straightConnector1">
            <a:avLst/>
          </a:prstGeom>
          <a:ln w="317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2225435A-2063-82A6-F17F-394B65974C51}"/>
              </a:ext>
            </a:extLst>
          </p:cNvPr>
          <p:cNvSpPr txBox="1"/>
          <p:nvPr/>
        </p:nvSpPr>
        <p:spPr>
          <a:xfrm>
            <a:off x="9670093" y="2598244"/>
            <a:ext cx="2521907" cy="421743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200" b="1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Konkretne Stany</a:t>
            </a:r>
            <a:r>
              <a:rPr kumimoji="0" lang="pl-PL" altLang="pl-PL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 dostarczają swoje implementacje metod specyficznych dla poszczególnych stanów. Aby uniknąć powtórzeń podobnego kodu w wielu stanach, można utworzyć pośrednie klasy abstrakcyjne które hermetyzują jakieś wspólne zachowania.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Obiekty stanu mogą przechowywać referencje wsteczne do obiektu kontekst. Za pośrednictwem tego odniesienia stan może pobrać dowolne informacje z obiektu kontekst, a także zainicjować zmianę stanu.</a:t>
            </a:r>
          </a:p>
        </p:txBody>
      </p:sp>
    </p:spTree>
    <p:extLst>
      <p:ext uri="{BB962C8B-B14F-4D97-AF65-F5344CB8AC3E}">
        <p14:creationId xmlns:p14="http://schemas.microsoft.com/office/powerpoint/2010/main" val="1415370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EE41B80-7BFB-1DDF-46D6-65AADD4F3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Rozwiązanie ze wzorcem Stan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Symbol zastępczy zawartości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118FF9FA-A64E-1E14-91A9-50256D0E1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68316" y="1425894"/>
            <a:ext cx="3936325" cy="1326655"/>
          </a:xfrm>
        </p:spPr>
      </p:pic>
      <p:pic>
        <p:nvPicPr>
          <p:cNvPr id="7" name="Obraz 6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2D361B6E-CF17-6F67-2557-1F93CEF9C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497" y="3298649"/>
            <a:ext cx="5039965" cy="1482343"/>
          </a:xfrm>
          <a:prstGeom prst="rect">
            <a:avLst/>
          </a:prstGeom>
        </p:spPr>
      </p:pic>
      <p:pic>
        <p:nvPicPr>
          <p:cNvPr id="11" name="Obraz 10" descr="Obraz zawierający tekst, Czcionka, oprogramowanie, zrzut ekranu&#10;&#10;Zawartość wygenerowana przez AI może być niepoprawna.">
            <a:extLst>
              <a:ext uri="{FF2B5EF4-FFF2-40B4-BE49-F238E27FC236}">
                <a16:creationId xmlns:a16="http://schemas.microsoft.com/office/drawing/2014/main" id="{7A48DED8-308D-97E2-196D-8B11406F5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961" y="5327092"/>
            <a:ext cx="3811721" cy="1133375"/>
          </a:xfrm>
          <a:prstGeom prst="rect">
            <a:avLst/>
          </a:prstGeom>
        </p:spPr>
      </p:pic>
      <p:pic>
        <p:nvPicPr>
          <p:cNvPr id="4" name="Obraz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79E9D987-40B9-8602-36E0-E8041FCBD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8551" y="5327092"/>
            <a:ext cx="3863151" cy="1133375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76E2EAF7-E94A-B130-1EE5-FDD584AD8E9A}"/>
              </a:ext>
            </a:extLst>
          </p:cNvPr>
          <p:cNvSpPr txBox="1"/>
          <p:nvPr/>
        </p:nvSpPr>
        <p:spPr>
          <a:xfrm>
            <a:off x="960699" y="5000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34583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155A-9379-E68F-596C-66E071AFD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0A212C-0571-C5F5-5EF4-80045E64E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7871A0-4B10-16D1-25FB-B936EAAB2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A4D5E12-5EB5-AD5B-D4C2-AEB72D90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Porównanie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592E8F0-8013-F7F7-1B11-527805C80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71C3623-F885-89EF-4A60-23894F89B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56503E3-AA74-B849-579B-15433503A96E}"/>
              </a:ext>
            </a:extLst>
          </p:cNvPr>
          <p:cNvSpPr txBox="1"/>
          <p:nvPr/>
        </p:nvSpPr>
        <p:spPr>
          <a:xfrm>
            <a:off x="5707781" y="2257328"/>
            <a:ext cx="2683865" cy="2439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3200" dirty="0"/>
              <a:t>Bez </a:t>
            </a:r>
            <a:r>
              <a:rPr lang="pl-PL" sz="3200" dirty="0" err="1"/>
              <a:t>State</a:t>
            </a:r>
            <a:endParaRPr lang="pl-PL" sz="3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/>
              <a:t>Duże metody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/>
              <a:t>Wiele </a:t>
            </a:r>
            <a:r>
              <a:rPr lang="pl-PL" sz="2400" dirty="0" err="1"/>
              <a:t>switchy</a:t>
            </a:r>
            <a:endParaRPr lang="pl-PL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/>
              <a:t>Trudne zmiany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88F02D8-19DF-6F36-0AFE-C9417B5F5477}"/>
              </a:ext>
            </a:extLst>
          </p:cNvPr>
          <p:cNvSpPr txBox="1"/>
          <p:nvPr/>
        </p:nvSpPr>
        <p:spPr>
          <a:xfrm>
            <a:off x="8776516" y="2257328"/>
            <a:ext cx="2802306" cy="2439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3200" dirty="0"/>
              <a:t>Z </a:t>
            </a:r>
            <a:r>
              <a:rPr lang="pl-PL" sz="3200" dirty="0" err="1"/>
              <a:t>State</a:t>
            </a:r>
            <a:endParaRPr lang="pl-PL" sz="3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/>
              <a:t>Małe klasy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/>
              <a:t>Brak </a:t>
            </a:r>
            <a:r>
              <a:rPr lang="pl-PL" sz="2400" dirty="0" err="1"/>
              <a:t>switchy</a:t>
            </a:r>
            <a:endParaRPr lang="pl-PL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/>
              <a:t>Łatwe dodawanie</a:t>
            </a:r>
          </a:p>
        </p:txBody>
      </p:sp>
    </p:spTree>
    <p:extLst>
      <p:ext uri="{BB962C8B-B14F-4D97-AF65-F5344CB8AC3E}">
        <p14:creationId xmlns:p14="http://schemas.microsoft.com/office/powerpoint/2010/main" val="3389200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3DD4C-4E09-FC23-3D2A-75B4F081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4B5243-20C5-325D-7F35-34CF3D656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AE276D0-0A27-AC4D-3F3C-F15271B9F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C1E68F7-7DC2-4BAB-76C5-F3E13223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l-PL" sz="4000" dirty="0">
                <a:solidFill>
                  <a:srgbClr val="FFFFFF"/>
                </a:solidFill>
              </a:rPr>
              <a:t>Zastosowanie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77D4C28-C2C0-1586-9FEF-1E296576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553218-9E51-7317-4A2D-84D3042F9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B4DA04C-4314-01ED-A2ED-BCDA9EEF00DB}"/>
              </a:ext>
            </a:extLst>
          </p:cNvPr>
          <p:cNvSpPr txBox="1"/>
          <p:nvPr/>
        </p:nvSpPr>
        <p:spPr>
          <a:xfrm>
            <a:off x="5595266" y="1432724"/>
            <a:ext cx="5602147" cy="153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dirty="0"/>
              <a:t>Stosuj wzorzec Stan gdy masz do czynienia z obiektem którego zachowanie jest zależne od jego stanu, liczba możliwych stanów jest wielka, a kod specyficzny dla danego stanu często ulega zmianom.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34426D7-8F64-5BD9-B180-4E00C8C8E867}"/>
              </a:ext>
            </a:extLst>
          </p:cNvPr>
          <p:cNvSpPr txBox="1"/>
          <p:nvPr/>
        </p:nvSpPr>
        <p:spPr>
          <a:xfrm>
            <a:off x="5595266" y="3273504"/>
            <a:ext cx="5602147" cy="11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dirty="0"/>
              <a:t>Stosuj ten wzorzec gdy masz klasę zaśmieconą rozbudowanymi instrukcjami warunkowymi zmieniającymi zachowanie klasy zależnie od wartości jej pól.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BBBBC7A-AA0D-700B-E4FE-882D3EE77A6E}"/>
              </a:ext>
            </a:extLst>
          </p:cNvPr>
          <p:cNvSpPr txBox="1"/>
          <p:nvPr/>
        </p:nvSpPr>
        <p:spPr>
          <a:xfrm>
            <a:off x="5595267" y="4780992"/>
            <a:ext cx="5602147" cy="153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dirty="0"/>
              <a:t>Wzorzec Stan pomaga poradzić sobie z dużą ilością kodu który się powtarza w wielu stanach i przejściach między stanami automatu skończonego, bazującego na instrukcjach warunkowych.</a:t>
            </a:r>
          </a:p>
        </p:txBody>
      </p:sp>
    </p:spTree>
    <p:extLst>
      <p:ext uri="{BB962C8B-B14F-4D97-AF65-F5344CB8AC3E}">
        <p14:creationId xmlns:p14="http://schemas.microsoft.com/office/powerpoint/2010/main" val="3994716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BEA20-CAE6-AC2D-3D46-9CECA9B7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2B60A9-4C01-0948-DFA5-549AF33EA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6F643B-2B13-CDEB-2339-096D0480E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12C7D91-8A68-011D-4EAB-A68D4D1E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048" y="1396685"/>
            <a:ext cx="4078641" cy="4101289"/>
          </a:xfrm>
        </p:spPr>
        <p:txBody>
          <a:bodyPr>
            <a:normAutofit/>
          </a:bodyPr>
          <a:lstStyle/>
          <a:p>
            <a:r>
              <a:rPr lang="pl-PL" sz="4000" dirty="0">
                <a:solidFill>
                  <a:srgbClr val="FFFFFF"/>
                </a:solidFill>
              </a:rPr>
              <a:t>Jak zaimplementować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601939-9F36-E048-9FD6-8C36DA21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69562F5-8FA0-C4EF-C233-AB17081BD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B24CAD9-8077-6EAA-D897-BC9B8389A793}"/>
              </a:ext>
            </a:extLst>
          </p:cNvPr>
          <p:cNvSpPr txBox="1"/>
          <p:nvPr/>
        </p:nvSpPr>
        <p:spPr>
          <a:xfrm>
            <a:off x="5529986" y="1396685"/>
            <a:ext cx="5593284" cy="4585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l-PL" sz="1400" dirty="0"/>
              <a:t>Zdecydować która klasa będzie pełniła rolę kontekstu.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l-PL" sz="1400" dirty="0"/>
              <a:t>Zadeklarować interfejs stanu. Mimo że może on odzwierciedlać wszystkie metody zadeklarowane w kontekście, skup się tylko na tych, które dotyczą zachowania specyficznego dla danego stanu.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pl-PL" sz="1400" dirty="0"/>
              <a:t>Dla każdego faktycznego stanu stworzyć klasę wywodzącą się z interfejsu stanu.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pl-PL" sz="1400" dirty="0"/>
              <a:t>W klasie kontekstu dodać pole przechowujące odniesienie do interfejsu stanu i publicznie dostępną metodę </a:t>
            </a:r>
            <a:r>
              <a:rPr lang="pl-PL" sz="1400" dirty="0" err="1"/>
              <a:t>setter</a:t>
            </a:r>
            <a:r>
              <a:rPr lang="pl-PL" sz="1400" dirty="0"/>
              <a:t>, która umożliwia nadpisanie wartości tego pola.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pl-PL" sz="1400" dirty="0"/>
              <a:t>Aby przełączyć stan kontekstu, utwórz instancję jednej z klas stanu i przekaż ją kontekstowi. Można tego dokonać w ramach samego kontekstu, w którymś ze stanów, bądź po stronie klienta. Za każdym razem, gdy to się dzieje, klasa staje się zależna od konkretnej klasy stanu której instancja powstaje.</a:t>
            </a:r>
          </a:p>
        </p:txBody>
      </p:sp>
    </p:spTree>
    <p:extLst>
      <p:ext uri="{BB962C8B-B14F-4D97-AF65-F5344CB8AC3E}">
        <p14:creationId xmlns:p14="http://schemas.microsoft.com/office/powerpoint/2010/main" val="1398089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060B6-55F1-F79A-AE12-F4EB2EEB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AE3DF4-622C-9727-6C8B-48690A566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A34745-8B6D-F79B-2245-7CA8133BE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D3312B8-4D48-CD73-291B-AB69F55B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l-PL" sz="4000" dirty="0">
                <a:solidFill>
                  <a:srgbClr val="FFFFFF"/>
                </a:solidFill>
              </a:rPr>
              <a:t>Zalety i wady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8A7D3C3-F96F-833F-8E25-DFB04C4D5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3444F0-B756-FC4E-131A-B91D2A6FC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Dowolny kształt 15">
            <a:extLst>
              <a:ext uri="{FF2B5EF4-FFF2-40B4-BE49-F238E27FC236}">
                <a16:creationId xmlns:a16="http://schemas.microsoft.com/office/drawing/2014/main" id="{A485F1B6-1770-F6A4-6738-49FA5AE8A6BF}"/>
              </a:ext>
            </a:extLst>
          </p:cNvPr>
          <p:cNvSpPr>
            <a:spLocks/>
          </p:cNvSpPr>
          <p:nvPr/>
        </p:nvSpPr>
        <p:spPr>
          <a:xfrm rot="668250">
            <a:off x="6487847" y="1999013"/>
            <a:ext cx="271785" cy="285678"/>
          </a:xfrm>
          <a:custGeom>
            <a:avLst/>
            <a:gdLst>
              <a:gd name="csX0" fmla="*/ 0 w 1551008"/>
              <a:gd name="csY0" fmla="*/ 1030146 h 1585731"/>
              <a:gd name="csX1" fmla="*/ 196770 w 1551008"/>
              <a:gd name="csY1" fmla="*/ 1111169 h 1585731"/>
              <a:gd name="csX2" fmla="*/ 266218 w 1551008"/>
              <a:gd name="csY2" fmla="*/ 1157468 h 1585731"/>
              <a:gd name="csX3" fmla="*/ 300942 w 1551008"/>
              <a:gd name="csY3" fmla="*/ 1192192 h 1585731"/>
              <a:gd name="csX4" fmla="*/ 335666 w 1551008"/>
              <a:gd name="csY4" fmla="*/ 1215341 h 1585731"/>
              <a:gd name="csX5" fmla="*/ 405114 w 1551008"/>
              <a:gd name="csY5" fmla="*/ 1284789 h 1585731"/>
              <a:gd name="csX6" fmla="*/ 439838 w 1551008"/>
              <a:gd name="csY6" fmla="*/ 1319514 h 1585731"/>
              <a:gd name="csX7" fmla="*/ 474562 w 1551008"/>
              <a:gd name="csY7" fmla="*/ 1342663 h 1585731"/>
              <a:gd name="csX8" fmla="*/ 520861 w 1551008"/>
              <a:gd name="csY8" fmla="*/ 1388962 h 1585731"/>
              <a:gd name="csX9" fmla="*/ 555585 w 1551008"/>
              <a:gd name="csY9" fmla="*/ 1412111 h 1585731"/>
              <a:gd name="csX10" fmla="*/ 613459 w 1551008"/>
              <a:gd name="csY10" fmla="*/ 1469984 h 1585731"/>
              <a:gd name="csX11" fmla="*/ 671332 w 1551008"/>
              <a:gd name="csY11" fmla="*/ 1527858 h 1585731"/>
              <a:gd name="csX12" fmla="*/ 706056 w 1551008"/>
              <a:gd name="csY12" fmla="*/ 1562582 h 1585731"/>
              <a:gd name="csX13" fmla="*/ 740780 w 1551008"/>
              <a:gd name="csY13" fmla="*/ 1585731 h 1585731"/>
              <a:gd name="csX14" fmla="*/ 775504 w 1551008"/>
              <a:gd name="csY14" fmla="*/ 1493134 h 1585731"/>
              <a:gd name="csX15" fmla="*/ 879676 w 1551008"/>
              <a:gd name="csY15" fmla="*/ 1215341 h 1585731"/>
              <a:gd name="csX16" fmla="*/ 914400 w 1551008"/>
              <a:gd name="csY16" fmla="*/ 1076445 h 1585731"/>
              <a:gd name="csX17" fmla="*/ 1006998 w 1551008"/>
              <a:gd name="csY17" fmla="*/ 833377 h 1585731"/>
              <a:gd name="csX18" fmla="*/ 1030147 w 1551008"/>
              <a:gd name="csY18" fmla="*/ 775503 h 1585731"/>
              <a:gd name="csX19" fmla="*/ 1076446 w 1551008"/>
              <a:gd name="csY19" fmla="*/ 729205 h 1585731"/>
              <a:gd name="csX20" fmla="*/ 1111170 w 1551008"/>
              <a:gd name="csY20" fmla="*/ 682906 h 1585731"/>
              <a:gd name="csX21" fmla="*/ 1145894 w 1551008"/>
              <a:gd name="csY21" fmla="*/ 625032 h 1585731"/>
              <a:gd name="csX22" fmla="*/ 1180618 w 1551008"/>
              <a:gd name="csY22" fmla="*/ 578734 h 1585731"/>
              <a:gd name="csX23" fmla="*/ 1215342 w 1551008"/>
              <a:gd name="csY23" fmla="*/ 520860 h 1585731"/>
              <a:gd name="csX24" fmla="*/ 1250066 w 1551008"/>
              <a:gd name="csY24" fmla="*/ 486136 h 1585731"/>
              <a:gd name="csX25" fmla="*/ 1307940 w 1551008"/>
              <a:gd name="csY25" fmla="*/ 416688 h 1585731"/>
              <a:gd name="csX26" fmla="*/ 1354238 w 1551008"/>
              <a:gd name="csY26" fmla="*/ 347240 h 1585731"/>
              <a:gd name="csX27" fmla="*/ 1446836 w 1551008"/>
              <a:gd name="csY27" fmla="*/ 185195 h 1585731"/>
              <a:gd name="csX28" fmla="*/ 1493135 w 1551008"/>
              <a:gd name="csY28" fmla="*/ 104172 h 1585731"/>
              <a:gd name="csX29" fmla="*/ 1516284 w 1551008"/>
              <a:gd name="csY29" fmla="*/ 46298 h 1585731"/>
              <a:gd name="csX30" fmla="*/ 1551008 w 1551008"/>
              <a:gd name="csY30" fmla="*/ 0 h 158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551008" h="1585731">
                <a:moveTo>
                  <a:pt x="0" y="1030146"/>
                </a:moveTo>
                <a:cubicBezTo>
                  <a:pt x="30107" y="1041726"/>
                  <a:pt x="146222" y="1080841"/>
                  <a:pt x="196770" y="1111169"/>
                </a:cubicBezTo>
                <a:cubicBezTo>
                  <a:pt x="220627" y="1125483"/>
                  <a:pt x="246545" y="1137795"/>
                  <a:pt x="266218" y="1157468"/>
                </a:cubicBezTo>
                <a:cubicBezTo>
                  <a:pt x="277793" y="1169043"/>
                  <a:pt x="288367" y="1181713"/>
                  <a:pt x="300942" y="1192192"/>
                </a:cubicBezTo>
                <a:cubicBezTo>
                  <a:pt x="311629" y="1201098"/>
                  <a:pt x="325269" y="1206099"/>
                  <a:pt x="335666" y="1215341"/>
                </a:cubicBezTo>
                <a:cubicBezTo>
                  <a:pt x="360135" y="1237091"/>
                  <a:pt x="381965" y="1261640"/>
                  <a:pt x="405114" y="1284789"/>
                </a:cubicBezTo>
                <a:cubicBezTo>
                  <a:pt x="416689" y="1296364"/>
                  <a:pt x="426218" y="1310434"/>
                  <a:pt x="439838" y="1319514"/>
                </a:cubicBezTo>
                <a:cubicBezTo>
                  <a:pt x="451413" y="1327230"/>
                  <a:pt x="464000" y="1333610"/>
                  <a:pt x="474562" y="1342663"/>
                </a:cubicBezTo>
                <a:cubicBezTo>
                  <a:pt x="491133" y="1356867"/>
                  <a:pt x="502701" y="1376855"/>
                  <a:pt x="520861" y="1388962"/>
                </a:cubicBezTo>
                <a:cubicBezTo>
                  <a:pt x="532436" y="1396678"/>
                  <a:pt x="545116" y="1402951"/>
                  <a:pt x="555585" y="1412111"/>
                </a:cubicBezTo>
                <a:cubicBezTo>
                  <a:pt x="576117" y="1430076"/>
                  <a:pt x="594168" y="1450693"/>
                  <a:pt x="613459" y="1469984"/>
                </a:cubicBezTo>
                <a:lnTo>
                  <a:pt x="671332" y="1527858"/>
                </a:lnTo>
                <a:cubicBezTo>
                  <a:pt x="682907" y="1539433"/>
                  <a:pt x="692436" y="1553502"/>
                  <a:pt x="706056" y="1562582"/>
                </a:cubicBezTo>
                <a:lnTo>
                  <a:pt x="740780" y="1585731"/>
                </a:lnTo>
                <a:cubicBezTo>
                  <a:pt x="788655" y="1537858"/>
                  <a:pt x="744653" y="1590828"/>
                  <a:pt x="775504" y="1493134"/>
                </a:cubicBezTo>
                <a:cubicBezTo>
                  <a:pt x="784554" y="1464477"/>
                  <a:pt x="869666" y="1255380"/>
                  <a:pt x="879676" y="1215341"/>
                </a:cubicBezTo>
                <a:cubicBezTo>
                  <a:pt x="891251" y="1169042"/>
                  <a:pt x="900842" y="1122202"/>
                  <a:pt x="914400" y="1076445"/>
                </a:cubicBezTo>
                <a:cubicBezTo>
                  <a:pt x="984255" y="840686"/>
                  <a:pt x="943381" y="973335"/>
                  <a:pt x="1006998" y="833377"/>
                </a:cubicBezTo>
                <a:cubicBezTo>
                  <a:pt x="1015596" y="814462"/>
                  <a:pt x="1018622" y="792791"/>
                  <a:pt x="1030147" y="775503"/>
                </a:cubicBezTo>
                <a:cubicBezTo>
                  <a:pt x="1042254" y="757343"/>
                  <a:pt x="1062074" y="745630"/>
                  <a:pt x="1076446" y="729205"/>
                </a:cubicBezTo>
                <a:cubicBezTo>
                  <a:pt x="1089149" y="714687"/>
                  <a:pt x="1100469" y="698957"/>
                  <a:pt x="1111170" y="682906"/>
                </a:cubicBezTo>
                <a:cubicBezTo>
                  <a:pt x="1123649" y="664187"/>
                  <a:pt x="1133415" y="643751"/>
                  <a:pt x="1145894" y="625032"/>
                </a:cubicBezTo>
                <a:cubicBezTo>
                  <a:pt x="1156595" y="608981"/>
                  <a:pt x="1169917" y="594785"/>
                  <a:pt x="1180618" y="578734"/>
                </a:cubicBezTo>
                <a:cubicBezTo>
                  <a:pt x="1193097" y="560015"/>
                  <a:pt x="1201844" y="538858"/>
                  <a:pt x="1215342" y="520860"/>
                </a:cubicBezTo>
                <a:cubicBezTo>
                  <a:pt x="1225163" y="507765"/>
                  <a:pt x="1239587" y="498711"/>
                  <a:pt x="1250066" y="486136"/>
                </a:cubicBezTo>
                <a:cubicBezTo>
                  <a:pt x="1330640" y="389448"/>
                  <a:pt x="1206494" y="518134"/>
                  <a:pt x="1307940" y="416688"/>
                </a:cubicBezTo>
                <a:cubicBezTo>
                  <a:pt x="1336805" y="330087"/>
                  <a:pt x="1294632" y="439357"/>
                  <a:pt x="1354238" y="347240"/>
                </a:cubicBezTo>
                <a:cubicBezTo>
                  <a:pt x="1388035" y="295009"/>
                  <a:pt x="1415970" y="239210"/>
                  <a:pt x="1446836" y="185195"/>
                </a:cubicBezTo>
                <a:cubicBezTo>
                  <a:pt x="1462269" y="158187"/>
                  <a:pt x="1481583" y="133053"/>
                  <a:pt x="1493135" y="104172"/>
                </a:cubicBezTo>
                <a:cubicBezTo>
                  <a:pt x="1500851" y="84881"/>
                  <a:pt x="1506992" y="64882"/>
                  <a:pt x="1516284" y="46298"/>
                </a:cubicBezTo>
                <a:cubicBezTo>
                  <a:pt x="1529373" y="20120"/>
                  <a:pt x="1534729" y="16278"/>
                  <a:pt x="1551008" y="0"/>
                </a:cubicBezTo>
              </a:path>
            </a:pathLst>
          </a:cu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9890616-323F-8A31-737F-A7606949A4A7}"/>
              </a:ext>
            </a:extLst>
          </p:cNvPr>
          <p:cNvSpPr txBox="1"/>
          <p:nvPr/>
        </p:nvSpPr>
        <p:spPr>
          <a:xfrm>
            <a:off x="6972158" y="1696433"/>
            <a:ext cx="33568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Zasada pojedynczej odpowiedzialności. Zorganizuj kod związany z konkretnymi stanami w osobne klasy.</a:t>
            </a:r>
          </a:p>
        </p:txBody>
      </p:sp>
      <p:sp>
        <p:nvSpPr>
          <p:cNvPr id="18" name="Dowolny kształt 17">
            <a:extLst>
              <a:ext uri="{FF2B5EF4-FFF2-40B4-BE49-F238E27FC236}">
                <a16:creationId xmlns:a16="http://schemas.microsoft.com/office/drawing/2014/main" id="{9EF8A116-DDBB-0047-521A-59F8033F2948}"/>
              </a:ext>
            </a:extLst>
          </p:cNvPr>
          <p:cNvSpPr>
            <a:spLocks/>
          </p:cNvSpPr>
          <p:nvPr/>
        </p:nvSpPr>
        <p:spPr>
          <a:xfrm rot="668250">
            <a:off x="6487846" y="3066637"/>
            <a:ext cx="271785" cy="285678"/>
          </a:xfrm>
          <a:custGeom>
            <a:avLst/>
            <a:gdLst>
              <a:gd name="csX0" fmla="*/ 0 w 1551008"/>
              <a:gd name="csY0" fmla="*/ 1030146 h 1585731"/>
              <a:gd name="csX1" fmla="*/ 196770 w 1551008"/>
              <a:gd name="csY1" fmla="*/ 1111169 h 1585731"/>
              <a:gd name="csX2" fmla="*/ 266218 w 1551008"/>
              <a:gd name="csY2" fmla="*/ 1157468 h 1585731"/>
              <a:gd name="csX3" fmla="*/ 300942 w 1551008"/>
              <a:gd name="csY3" fmla="*/ 1192192 h 1585731"/>
              <a:gd name="csX4" fmla="*/ 335666 w 1551008"/>
              <a:gd name="csY4" fmla="*/ 1215341 h 1585731"/>
              <a:gd name="csX5" fmla="*/ 405114 w 1551008"/>
              <a:gd name="csY5" fmla="*/ 1284789 h 1585731"/>
              <a:gd name="csX6" fmla="*/ 439838 w 1551008"/>
              <a:gd name="csY6" fmla="*/ 1319514 h 1585731"/>
              <a:gd name="csX7" fmla="*/ 474562 w 1551008"/>
              <a:gd name="csY7" fmla="*/ 1342663 h 1585731"/>
              <a:gd name="csX8" fmla="*/ 520861 w 1551008"/>
              <a:gd name="csY8" fmla="*/ 1388962 h 1585731"/>
              <a:gd name="csX9" fmla="*/ 555585 w 1551008"/>
              <a:gd name="csY9" fmla="*/ 1412111 h 1585731"/>
              <a:gd name="csX10" fmla="*/ 613459 w 1551008"/>
              <a:gd name="csY10" fmla="*/ 1469984 h 1585731"/>
              <a:gd name="csX11" fmla="*/ 671332 w 1551008"/>
              <a:gd name="csY11" fmla="*/ 1527858 h 1585731"/>
              <a:gd name="csX12" fmla="*/ 706056 w 1551008"/>
              <a:gd name="csY12" fmla="*/ 1562582 h 1585731"/>
              <a:gd name="csX13" fmla="*/ 740780 w 1551008"/>
              <a:gd name="csY13" fmla="*/ 1585731 h 1585731"/>
              <a:gd name="csX14" fmla="*/ 775504 w 1551008"/>
              <a:gd name="csY14" fmla="*/ 1493134 h 1585731"/>
              <a:gd name="csX15" fmla="*/ 879676 w 1551008"/>
              <a:gd name="csY15" fmla="*/ 1215341 h 1585731"/>
              <a:gd name="csX16" fmla="*/ 914400 w 1551008"/>
              <a:gd name="csY16" fmla="*/ 1076445 h 1585731"/>
              <a:gd name="csX17" fmla="*/ 1006998 w 1551008"/>
              <a:gd name="csY17" fmla="*/ 833377 h 1585731"/>
              <a:gd name="csX18" fmla="*/ 1030147 w 1551008"/>
              <a:gd name="csY18" fmla="*/ 775503 h 1585731"/>
              <a:gd name="csX19" fmla="*/ 1076446 w 1551008"/>
              <a:gd name="csY19" fmla="*/ 729205 h 1585731"/>
              <a:gd name="csX20" fmla="*/ 1111170 w 1551008"/>
              <a:gd name="csY20" fmla="*/ 682906 h 1585731"/>
              <a:gd name="csX21" fmla="*/ 1145894 w 1551008"/>
              <a:gd name="csY21" fmla="*/ 625032 h 1585731"/>
              <a:gd name="csX22" fmla="*/ 1180618 w 1551008"/>
              <a:gd name="csY22" fmla="*/ 578734 h 1585731"/>
              <a:gd name="csX23" fmla="*/ 1215342 w 1551008"/>
              <a:gd name="csY23" fmla="*/ 520860 h 1585731"/>
              <a:gd name="csX24" fmla="*/ 1250066 w 1551008"/>
              <a:gd name="csY24" fmla="*/ 486136 h 1585731"/>
              <a:gd name="csX25" fmla="*/ 1307940 w 1551008"/>
              <a:gd name="csY25" fmla="*/ 416688 h 1585731"/>
              <a:gd name="csX26" fmla="*/ 1354238 w 1551008"/>
              <a:gd name="csY26" fmla="*/ 347240 h 1585731"/>
              <a:gd name="csX27" fmla="*/ 1446836 w 1551008"/>
              <a:gd name="csY27" fmla="*/ 185195 h 1585731"/>
              <a:gd name="csX28" fmla="*/ 1493135 w 1551008"/>
              <a:gd name="csY28" fmla="*/ 104172 h 1585731"/>
              <a:gd name="csX29" fmla="*/ 1516284 w 1551008"/>
              <a:gd name="csY29" fmla="*/ 46298 h 1585731"/>
              <a:gd name="csX30" fmla="*/ 1551008 w 1551008"/>
              <a:gd name="csY30" fmla="*/ 0 h 158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551008" h="1585731">
                <a:moveTo>
                  <a:pt x="0" y="1030146"/>
                </a:moveTo>
                <a:cubicBezTo>
                  <a:pt x="30107" y="1041726"/>
                  <a:pt x="146222" y="1080841"/>
                  <a:pt x="196770" y="1111169"/>
                </a:cubicBezTo>
                <a:cubicBezTo>
                  <a:pt x="220627" y="1125483"/>
                  <a:pt x="246545" y="1137795"/>
                  <a:pt x="266218" y="1157468"/>
                </a:cubicBezTo>
                <a:cubicBezTo>
                  <a:pt x="277793" y="1169043"/>
                  <a:pt x="288367" y="1181713"/>
                  <a:pt x="300942" y="1192192"/>
                </a:cubicBezTo>
                <a:cubicBezTo>
                  <a:pt x="311629" y="1201098"/>
                  <a:pt x="325269" y="1206099"/>
                  <a:pt x="335666" y="1215341"/>
                </a:cubicBezTo>
                <a:cubicBezTo>
                  <a:pt x="360135" y="1237091"/>
                  <a:pt x="381965" y="1261640"/>
                  <a:pt x="405114" y="1284789"/>
                </a:cubicBezTo>
                <a:cubicBezTo>
                  <a:pt x="416689" y="1296364"/>
                  <a:pt x="426218" y="1310434"/>
                  <a:pt x="439838" y="1319514"/>
                </a:cubicBezTo>
                <a:cubicBezTo>
                  <a:pt x="451413" y="1327230"/>
                  <a:pt x="464000" y="1333610"/>
                  <a:pt x="474562" y="1342663"/>
                </a:cubicBezTo>
                <a:cubicBezTo>
                  <a:pt x="491133" y="1356867"/>
                  <a:pt x="502701" y="1376855"/>
                  <a:pt x="520861" y="1388962"/>
                </a:cubicBezTo>
                <a:cubicBezTo>
                  <a:pt x="532436" y="1396678"/>
                  <a:pt x="545116" y="1402951"/>
                  <a:pt x="555585" y="1412111"/>
                </a:cubicBezTo>
                <a:cubicBezTo>
                  <a:pt x="576117" y="1430076"/>
                  <a:pt x="594168" y="1450693"/>
                  <a:pt x="613459" y="1469984"/>
                </a:cubicBezTo>
                <a:lnTo>
                  <a:pt x="671332" y="1527858"/>
                </a:lnTo>
                <a:cubicBezTo>
                  <a:pt x="682907" y="1539433"/>
                  <a:pt x="692436" y="1553502"/>
                  <a:pt x="706056" y="1562582"/>
                </a:cubicBezTo>
                <a:lnTo>
                  <a:pt x="740780" y="1585731"/>
                </a:lnTo>
                <a:cubicBezTo>
                  <a:pt x="788655" y="1537858"/>
                  <a:pt x="744653" y="1590828"/>
                  <a:pt x="775504" y="1493134"/>
                </a:cubicBezTo>
                <a:cubicBezTo>
                  <a:pt x="784554" y="1464477"/>
                  <a:pt x="869666" y="1255380"/>
                  <a:pt x="879676" y="1215341"/>
                </a:cubicBezTo>
                <a:cubicBezTo>
                  <a:pt x="891251" y="1169042"/>
                  <a:pt x="900842" y="1122202"/>
                  <a:pt x="914400" y="1076445"/>
                </a:cubicBezTo>
                <a:cubicBezTo>
                  <a:pt x="984255" y="840686"/>
                  <a:pt x="943381" y="973335"/>
                  <a:pt x="1006998" y="833377"/>
                </a:cubicBezTo>
                <a:cubicBezTo>
                  <a:pt x="1015596" y="814462"/>
                  <a:pt x="1018622" y="792791"/>
                  <a:pt x="1030147" y="775503"/>
                </a:cubicBezTo>
                <a:cubicBezTo>
                  <a:pt x="1042254" y="757343"/>
                  <a:pt x="1062074" y="745630"/>
                  <a:pt x="1076446" y="729205"/>
                </a:cubicBezTo>
                <a:cubicBezTo>
                  <a:pt x="1089149" y="714687"/>
                  <a:pt x="1100469" y="698957"/>
                  <a:pt x="1111170" y="682906"/>
                </a:cubicBezTo>
                <a:cubicBezTo>
                  <a:pt x="1123649" y="664187"/>
                  <a:pt x="1133415" y="643751"/>
                  <a:pt x="1145894" y="625032"/>
                </a:cubicBezTo>
                <a:cubicBezTo>
                  <a:pt x="1156595" y="608981"/>
                  <a:pt x="1169917" y="594785"/>
                  <a:pt x="1180618" y="578734"/>
                </a:cubicBezTo>
                <a:cubicBezTo>
                  <a:pt x="1193097" y="560015"/>
                  <a:pt x="1201844" y="538858"/>
                  <a:pt x="1215342" y="520860"/>
                </a:cubicBezTo>
                <a:cubicBezTo>
                  <a:pt x="1225163" y="507765"/>
                  <a:pt x="1239587" y="498711"/>
                  <a:pt x="1250066" y="486136"/>
                </a:cubicBezTo>
                <a:cubicBezTo>
                  <a:pt x="1330640" y="389448"/>
                  <a:pt x="1206494" y="518134"/>
                  <a:pt x="1307940" y="416688"/>
                </a:cubicBezTo>
                <a:cubicBezTo>
                  <a:pt x="1336805" y="330087"/>
                  <a:pt x="1294632" y="439357"/>
                  <a:pt x="1354238" y="347240"/>
                </a:cubicBezTo>
                <a:cubicBezTo>
                  <a:pt x="1388035" y="295009"/>
                  <a:pt x="1415970" y="239210"/>
                  <a:pt x="1446836" y="185195"/>
                </a:cubicBezTo>
                <a:cubicBezTo>
                  <a:pt x="1462269" y="158187"/>
                  <a:pt x="1481583" y="133053"/>
                  <a:pt x="1493135" y="104172"/>
                </a:cubicBezTo>
                <a:cubicBezTo>
                  <a:pt x="1500851" y="84881"/>
                  <a:pt x="1506992" y="64882"/>
                  <a:pt x="1516284" y="46298"/>
                </a:cubicBezTo>
                <a:cubicBezTo>
                  <a:pt x="1529373" y="20120"/>
                  <a:pt x="1534729" y="16278"/>
                  <a:pt x="1551008" y="0"/>
                </a:cubicBezTo>
              </a:path>
            </a:pathLst>
          </a:cu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F546C1AA-BE0A-8BD2-EFC4-2E27B249128D}"/>
              </a:ext>
            </a:extLst>
          </p:cNvPr>
          <p:cNvSpPr txBox="1"/>
          <p:nvPr/>
        </p:nvSpPr>
        <p:spPr>
          <a:xfrm>
            <a:off x="6972158" y="2764058"/>
            <a:ext cx="33568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Zasada otwarte/zamknięte. Można wprowadzać nowe stany bez zmiany istniejących klas stanu lub kontekstu.</a:t>
            </a:r>
          </a:p>
        </p:txBody>
      </p:sp>
      <p:sp>
        <p:nvSpPr>
          <p:cNvPr id="20" name="Dowolny kształt 19">
            <a:extLst>
              <a:ext uri="{FF2B5EF4-FFF2-40B4-BE49-F238E27FC236}">
                <a16:creationId xmlns:a16="http://schemas.microsoft.com/office/drawing/2014/main" id="{1DCAE09F-52DC-148A-9AD3-294FE5FEC8EE}"/>
              </a:ext>
            </a:extLst>
          </p:cNvPr>
          <p:cNvSpPr>
            <a:spLocks/>
          </p:cNvSpPr>
          <p:nvPr/>
        </p:nvSpPr>
        <p:spPr>
          <a:xfrm rot="668250">
            <a:off x="6487847" y="4134263"/>
            <a:ext cx="271785" cy="285678"/>
          </a:xfrm>
          <a:custGeom>
            <a:avLst/>
            <a:gdLst>
              <a:gd name="csX0" fmla="*/ 0 w 1551008"/>
              <a:gd name="csY0" fmla="*/ 1030146 h 1585731"/>
              <a:gd name="csX1" fmla="*/ 196770 w 1551008"/>
              <a:gd name="csY1" fmla="*/ 1111169 h 1585731"/>
              <a:gd name="csX2" fmla="*/ 266218 w 1551008"/>
              <a:gd name="csY2" fmla="*/ 1157468 h 1585731"/>
              <a:gd name="csX3" fmla="*/ 300942 w 1551008"/>
              <a:gd name="csY3" fmla="*/ 1192192 h 1585731"/>
              <a:gd name="csX4" fmla="*/ 335666 w 1551008"/>
              <a:gd name="csY4" fmla="*/ 1215341 h 1585731"/>
              <a:gd name="csX5" fmla="*/ 405114 w 1551008"/>
              <a:gd name="csY5" fmla="*/ 1284789 h 1585731"/>
              <a:gd name="csX6" fmla="*/ 439838 w 1551008"/>
              <a:gd name="csY6" fmla="*/ 1319514 h 1585731"/>
              <a:gd name="csX7" fmla="*/ 474562 w 1551008"/>
              <a:gd name="csY7" fmla="*/ 1342663 h 1585731"/>
              <a:gd name="csX8" fmla="*/ 520861 w 1551008"/>
              <a:gd name="csY8" fmla="*/ 1388962 h 1585731"/>
              <a:gd name="csX9" fmla="*/ 555585 w 1551008"/>
              <a:gd name="csY9" fmla="*/ 1412111 h 1585731"/>
              <a:gd name="csX10" fmla="*/ 613459 w 1551008"/>
              <a:gd name="csY10" fmla="*/ 1469984 h 1585731"/>
              <a:gd name="csX11" fmla="*/ 671332 w 1551008"/>
              <a:gd name="csY11" fmla="*/ 1527858 h 1585731"/>
              <a:gd name="csX12" fmla="*/ 706056 w 1551008"/>
              <a:gd name="csY12" fmla="*/ 1562582 h 1585731"/>
              <a:gd name="csX13" fmla="*/ 740780 w 1551008"/>
              <a:gd name="csY13" fmla="*/ 1585731 h 1585731"/>
              <a:gd name="csX14" fmla="*/ 775504 w 1551008"/>
              <a:gd name="csY14" fmla="*/ 1493134 h 1585731"/>
              <a:gd name="csX15" fmla="*/ 879676 w 1551008"/>
              <a:gd name="csY15" fmla="*/ 1215341 h 1585731"/>
              <a:gd name="csX16" fmla="*/ 914400 w 1551008"/>
              <a:gd name="csY16" fmla="*/ 1076445 h 1585731"/>
              <a:gd name="csX17" fmla="*/ 1006998 w 1551008"/>
              <a:gd name="csY17" fmla="*/ 833377 h 1585731"/>
              <a:gd name="csX18" fmla="*/ 1030147 w 1551008"/>
              <a:gd name="csY18" fmla="*/ 775503 h 1585731"/>
              <a:gd name="csX19" fmla="*/ 1076446 w 1551008"/>
              <a:gd name="csY19" fmla="*/ 729205 h 1585731"/>
              <a:gd name="csX20" fmla="*/ 1111170 w 1551008"/>
              <a:gd name="csY20" fmla="*/ 682906 h 1585731"/>
              <a:gd name="csX21" fmla="*/ 1145894 w 1551008"/>
              <a:gd name="csY21" fmla="*/ 625032 h 1585731"/>
              <a:gd name="csX22" fmla="*/ 1180618 w 1551008"/>
              <a:gd name="csY22" fmla="*/ 578734 h 1585731"/>
              <a:gd name="csX23" fmla="*/ 1215342 w 1551008"/>
              <a:gd name="csY23" fmla="*/ 520860 h 1585731"/>
              <a:gd name="csX24" fmla="*/ 1250066 w 1551008"/>
              <a:gd name="csY24" fmla="*/ 486136 h 1585731"/>
              <a:gd name="csX25" fmla="*/ 1307940 w 1551008"/>
              <a:gd name="csY25" fmla="*/ 416688 h 1585731"/>
              <a:gd name="csX26" fmla="*/ 1354238 w 1551008"/>
              <a:gd name="csY26" fmla="*/ 347240 h 1585731"/>
              <a:gd name="csX27" fmla="*/ 1446836 w 1551008"/>
              <a:gd name="csY27" fmla="*/ 185195 h 1585731"/>
              <a:gd name="csX28" fmla="*/ 1493135 w 1551008"/>
              <a:gd name="csY28" fmla="*/ 104172 h 1585731"/>
              <a:gd name="csX29" fmla="*/ 1516284 w 1551008"/>
              <a:gd name="csY29" fmla="*/ 46298 h 1585731"/>
              <a:gd name="csX30" fmla="*/ 1551008 w 1551008"/>
              <a:gd name="csY30" fmla="*/ 0 h 158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551008" h="1585731">
                <a:moveTo>
                  <a:pt x="0" y="1030146"/>
                </a:moveTo>
                <a:cubicBezTo>
                  <a:pt x="30107" y="1041726"/>
                  <a:pt x="146222" y="1080841"/>
                  <a:pt x="196770" y="1111169"/>
                </a:cubicBezTo>
                <a:cubicBezTo>
                  <a:pt x="220627" y="1125483"/>
                  <a:pt x="246545" y="1137795"/>
                  <a:pt x="266218" y="1157468"/>
                </a:cubicBezTo>
                <a:cubicBezTo>
                  <a:pt x="277793" y="1169043"/>
                  <a:pt x="288367" y="1181713"/>
                  <a:pt x="300942" y="1192192"/>
                </a:cubicBezTo>
                <a:cubicBezTo>
                  <a:pt x="311629" y="1201098"/>
                  <a:pt x="325269" y="1206099"/>
                  <a:pt x="335666" y="1215341"/>
                </a:cubicBezTo>
                <a:cubicBezTo>
                  <a:pt x="360135" y="1237091"/>
                  <a:pt x="381965" y="1261640"/>
                  <a:pt x="405114" y="1284789"/>
                </a:cubicBezTo>
                <a:cubicBezTo>
                  <a:pt x="416689" y="1296364"/>
                  <a:pt x="426218" y="1310434"/>
                  <a:pt x="439838" y="1319514"/>
                </a:cubicBezTo>
                <a:cubicBezTo>
                  <a:pt x="451413" y="1327230"/>
                  <a:pt x="464000" y="1333610"/>
                  <a:pt x="474562" y="1342663"/>
                </a:cubicBezTo>
                <a:cubicBezTo>
                  <a:pt x="491133" y="1356867"/>
                  <a:pt x="502701" y="1376855"/>
                  <a:pt x="520861" y="1388962"/>
                </a:cubicBezTo>
                <a:cubicBezTo>
                  <a:pt x="532436" y="1396678"/>
                  <a:pt x="545116" y="1402951"/>
                  <a:pt x="555585" y="1412111"/>
                </a:cubicBezTo>
                <a:cubicBezTo>
                  <a:pt x="576117" y="1430076"/>
                  <a:pt x="594168" y="1450693"/>
                  <a:pt x="613459" y="1469984"/>
                </a:cubicBezTo>
                <a:lnTo>
                  <a:pt x="671332" y="1527858"/>
                </a:lnTo>
                <a:cubicBezTo>
                  <a:pt x="682907" y="1539433"/>
                  <a:pt x="692436" y="1553502"/>
                  <a:pt x="706056" y="1562582"/>
                </a:cubicBezTo>
                <a:lnTo>
                  <a:pt x="740780" y="1585731"/>
                </a:lnTo>
                <a:cubicBezTo>
                  <a:pt x="788655" y="1537858"/>
                  <a:pt x="744653" y="1590828"/>
                  <a:pt x="775504" y="1493134"/>
                </a:cubicBezTo>
                <a:cubicBezTo>
                  <a:pt x="784554" y="1464477"/>
                  <a:pt x="869666" y="1255380"/>
                  <a:pt x="879676" y="1215341"/>
                </a:cubicBezTo>
                <a:cubicBezTo>
                  <a:pt x="891251" y="1169042"/>
                  <a:pt x="900842" y="1122202"/>
                  <a:pt x="914400" y="1076445"/>
                </a:cubicBezTo>
                <a:cubicBezTo>
                  <a:pt x="984255" y="840686"/>
                  <a:pt x="943381" y="973335"/>
                  <a:pt x="1006998" y="833377"/>
                </a:cubicBezTo>
                <a:cubicBezTo>
                  <a:pt x="1015596" y="814462"/>
                  <a:pt x="1018622" y="792791"/>
                  <a:pt x="1030147" y="775503"/>
                </a:cubicBezTo>
                <a:cubicBezTo>
                  <a:pt x="1042254" y="757343"/>
                  <a:pt x="1062074" y="745630"/>
                  <a:pt x="1076446" y="729205"/>
                </a:cubicBezTo>
                <a:cubicBezTo>
                  <a:pt x="1089149" y="714687"/>
                  <a:pt x="1100469" y="698957"/>
                  <a:pt x="1111170" y="682906"/>
                </a:cubicBezTo>
                <a:cubicBezTo>
                  <a:pt x="1123649" y="664187"/>
                  <a:pt x="1133415" y="643751"/>
                  <a:pt x="1145894" y="625032"/>
                </a:cubicBezTo>
                <a:cubicBezTo>
                  <a:pt x="1156595" y="608981"/>
                  <a:pt x="1169917" y="594785"/>
                  <a:pt x="1180618" y="578734"/>
                </a:cubicBezTo>
                <a:cubicBezTo>
                  <a:pt x="1193097" y="560015"/>
                  <a:pt x="1201844" y="538858"/>
                  <a:pt x="1215342" y="520860"/>
                </a:cubicBezTo>
                <a:cubicBezTo>
                  <a:pt x="1225163" y="507765"/>
                  <a:pt x="1239587" y="498711"/>
                  <a:pt x="1250066" y="486136"/>
                </a:cubicBezTo>
                <a:cubicBezTo>
                  <a:pt x="1330640" y="389448"/>
                  <a:pt x="1206494" y="518134"/>
                  <a:pt x="1307940" y="416688"/>
                </a:cubicBezTo>
                <a:cubicBezTo>
                  <a:pt x="1336805" y="330087"/>
                  <a:pt x="1294632" y="439357"/>
                  <a:pt x="1354238" y="347240"/>
                </a:cubicBezTo>
                <a:cubicBezTo>
                  <a:pt x="1388035" y="295009"/>
                  <a:pt x="1415970" y="239210"/>
                  <a:pt x="1446836" y="185195"/>
                </a:cubicBezTo>
                <a:cubicBezTo>
                  <a:pt x="1462269" y="158187"/>
                  <a:pt x="1481583" y="133053"/>
                  <a:pt x="1493135" y="104172"/>
                </a:cubicBezTo>
                <a:cubicBezTo>
                  <a:pt x="1500851" y="84881"/>
                  <a:pt x="1506992" y="64882"/>
                  <a:pt x="1516284" y="46298"/>
                </a:cubicBezTo>
                <a:cubicBezTo>
                  <a:pt x="1529373" y="20120"/>
                  <a:pt x="1534729" y="16278"/>
                  <a:pt x="1551008" y="0"/>
                </a:cubicBezTo>
              </a:path>
            </a:pathLst>
          </a:custGeom>
          <a:noFill/>
          <a:ln w="349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98412C0E-7049-BB30-5DE1-C6802903B105}"/>
              </a:ext>
            </a:extLst>
          </p:cNvPr>
          <p:cNvSpPr txBox="1"/>
          <p:nvPr/>
        </p:nvSpPr>
        <p:spPr>
          <a:xfrm>
            <a:off x="6972158" y="3831683"/>
            <a:ext cx="33568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Upraszcza kod kontekstu eliminując obszerne instrukcje warunkowe automatu skończonego.</a:t>
            </a: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6DACBA0A-AA59-E349-9330-FEFADEFBA109}"/>
              </a:ext>
            </a:extLst>
          </p:cNvPr>
          <p:cNvSpPr txBox="1"/>
          <p:nvPr/>
        </p:nvSpPr>
        <p:spPr>
          <a:xfrm>
            <a:off x="6972158" y="4899308"/>
            <a:ext cx="3777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Zastosowanie tego wzorca może być przesadą jeśli mamy do czynienia zaledwie z kilkoma stanami i rzadkimi zmianami.</a:t>
            </a:r>
          </a:p>
        </p:txBody>
      </p:sp>
      <p:grpSp>
        <p:nvGrpSpPr>
          <p:cNvPr id="5" name="Grupa 4">
            <a:extLst>
              <a:ext uri="{FF2B5EF4-FFF2-40B4-BE49-F238E27FC236}">
                <a16:creationId xmlns:a16="http://schemas.microsoft.com/office/drawing/2014/main" id="{D1569FE1-740B-4B99-A3E2-FE74101FC808}"/>
              </a:ext>
            </a:extLst>
          </p:cNvPr>
          <p:cNvGrpSpPr/>
          <p:nvPr/>
        </p:nvGrpSpPr>
        <p:grpSpPr>
          <a:xfrm>
            <a:off x="6461127" y="5178327"/>
            <a:ext cx="325224" cy="292326"/>
            <a:chOff x="6461127" y="5178327"/>
            <a:chExt cx="325224" cy="29232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Pismo odręczne 2">
                  <a:extLst>
                    <a:ext uri="{FF2B5EF4-FFF2-40B4-BE49-F238E27FC236}">
                      <a16:creationId xmlns:a16="http://schemas.microsoft.com/office/drawing/2014/main" id="{916DE784-46D7-4196-A20A-8D4345F72C23}"/>
                    </a:ext>
                  </a:extLst>
                </p14:cNvPr>
                <p14:cNvContentPartPr/>
                <p14:nvPr/>
              </p14:nvContentPartPr>
              <p14:xfrm>
                <a:off x="6461127" y="5188427"/>
                <a:ext cx="325224" cy="219894"/>
              </p14:xfrm>
            </p:contentPart>
          </mc:Choice>
          <mc:Fallback>
            <p:pic>
              <p:nvPicPr>
                <p:cNvPr id="3" name="Pismo odręczne 2">
                  <a:extLst>
                    <a:ext uri="{FF2B5EF4-FFF2-40B4-BE49-F238E27FC236}">
                      <a16:creationId xmlns:a16="http://schemas.microsoft.com/office/drawing/2014/main" id="{916DE784-46D7-4196-A20A-8D4345F72C2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445298" y="5172592"/>
                  <a:ext cx="356523" cy="251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Pismo odręczne 3">
                  <a:extLst>
                    <a:ext uri="{FF2B5EF4-FFF2-40B4-BE49-F238E27FC236}">
                      <a16:creationId xmlns:a16="http://schemas.microsoft.com/office/drawing/2014/main" id="{9CF3C63F-6FAB-4B80-9927-0E938F2F6675}"/>
                    </a:ext>
                  </a:extLst>
                </p14:cNvPr>
                <p14:cNvContentPartPr/>
                <p14:nvPr/>
              </p14:nvContentPartPr>
              <p14:xfrm>
                <a:off x="6520285" y="5178327"/>
                <a:ext cx="225954" cy="292326"/>
              </p14:xfrm>
            </p:contentPart>
          </mc:Choice>
          <mc:Fallback>
            <p:pic>
              <p:nvPicPr>
                <p:cNvPr id="4" name="Pismo odręczne 3">
                  <a:extLst>
                    <a:ext uri="{FF2B5EF4-FFF2-40B4-BE49-F238E27FC236}">
                      <a16:creationId xmlns:a16="http://schemas.microsoft.com/office/drawing/2014/main" id="{9CF3C63F-6FAB-4B80-9927-0E938F2F667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04454" y="5162506"/>
                  <a:ext cx="257257" cy="323608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1950608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Words>601</Words>
  <Application>Microsoft Macintosh PowerPoint</Application>
  <PresentationFormat>Panoramiczny</PresentationFormat>
  <Paragraphs>60</Paragraphs>
  <Slides>11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PT Sans</vt:lpstr>
      <vt:lpstr>Motyw pakietu Office</vt:lpstr>
      <vt:lpstr>Wzorzec Stan</vt:lpstr>
      <vt:lpstr>Problem</vt:lpstr>
      <vt:lpstr>Jak wzorzec stan powiązany z automatem skończonym </vt:lpstr>
      <vt:lpstr>Rozwiązanie naiwne</vt:lpstr>
      <vt:lpstr>Idea wzorca State</vt:lpstr>
      <vt:lpstr>Prezentacja programu PowerPoint</vt:lpstr>
      <vt:lpstr>Rozwiązanie ze wzorcem Stan</vt:lpstr>
      <vt:lpstr>Porównanie</vt:lpstr>
      <vt:lpstr>Zastosowanie</vt:lpstr>
      <vt:lpstr>Jak zaimplementować</vt:lpstr>
      <vt:lpstr>Zalety i wady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Twentyone</dc:creator>
  <cp:lastModifiedBy>Andrew Twentyone</cp:lastModifiedBy>
  <cp:revision>3</cp:revision>
  <dcterms:created xsi:type="dcterms:W3CDTF">2026-01-14T20:50:46Z</dcterms:created>
  <dcterms:modified xsi:type="dcterms:W3CDTF">2026-01-14T23:24:20Z</dcterms:modified>
</cp:coreProperties>
</file>